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3"/>
  </p:notesMasterIdLst>
  <p:sldIdLst>
    <p:sldId id="256" r:id="rId2"/>
  </p:sldIdLst>
  <p:sldSz cx="7562850" cy="10688638"/>
  <p:notesSz cx="10688638" cy="756285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25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36800" y="1143000"/>
            <a:ext cx="2184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User-uploaded file: proposed_methodology_editable.pdf</a:t>
            </a:r>
            <a:br>
              <a:rPr lang="en-US"/>
            </a:br>
            <a:r>
              <a:rPr lang="en-US"/>
              <a:t>- Layout and flow adapted from the uploaded diagram; wording updated to match the project more accurately.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48640" y="256032"/>
            <a:ext cx="646480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Georgia"/>
              <a:buNone/>
            </a:pPr>
            <a:endParaRPr sz="2600" b="0" i="0" u="none" strike="noStrike" cap="none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2971800" y="804672"/>
            <a:ext cx="1627632" cy="530352"/>
          </a:xfrm>
          <a:prstGeom prst="ellipse">
            <a:avLst/>
          </a:prstGeom>
          <a:solidFill>
            <a:srgbClr val="DCE7F8"/>
          </a:solidFill>
          <a:ln w="12700" cap="flat" cmpd="sng">
            <a:solidFill>
              <a:srgbClr val="7AA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3044952" y="868680"/>
            <a:ext cx="148132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Georgia"/>
              <a:buNone/>
            </a:pPr>
            <a:r>
              <a:rPr lang="en-US" sz="1800" b="0" i="0" u="none" strike="noStrike" cap="none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Start</a:t>
            </a:r>
            <a:endParaRPr sz="1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2148840" y="1426464"/>
            <a:ext cx="3291840" cy="850392"/>
          </a:xfrm>
          <a:prstGeom prst="roundRect">
            <a:avLst>
              <a:gd name="adj" fmla="val 8602"/>
            </a:avLst>
          </a:prstGeom>
          <a:solidFill>
            <a:srgbClr val="DCE7F8"/>
          </a:solidFill>
          <a:ln w="12700" cap="flat" cmpd="sng">
            <a:solidFill>
              <a:srgbClr val="7AA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2221992" y="1490472"/>
            <a:ext cx="3145536" cy="722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Georgia"/>
              <a:buNone/>
            </a:pPr>
            <a:r>
              <a:rPr lang="en-US" sz="1600" b="0" i="0" u="none" strike="noStrike" cap="none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Data Collection</a:t>
            </a:r>
            <a:endParaRPr sz="16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Georgia"/>
              <a:buNone/>
            </a:pPr>
            <a:r>
              <a:rPr lang="en-US" sz="1600" b="0" i="0" u="none" strike="noStrike" cap="none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(Bangla Speech Emotion Dataset)</a:t>
            </a:r>
            <a:endParaRPr sz="16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975075" y="2514601"/>
            <a:ext cx="3675900" cy="530400"/>
          </a:xfrm>
          <a:prstGeom prst="roundRect">
            <a:avLst>
              <a:gd name="adj" fmla="val 5405"/>
            </a:avLst>
          </a:prstGeom>
          <a:solidFill>
            <a:srgbClr val="DCE7F8"/>
          </a:solidFill>
          <a:ln w="12700" cap="flat" cmpd="sng">
            <a:solidFill>
              <a:srgbClr val="7AA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2029975" y="2569471"/>
            <a:ext cx="35295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Georgia"/>
              <a:buNone/>
            </a:pPr>
            <a:r>
              <a:rPr lang="en-US" sz="1400" b="0" i="0" u="none" strike="noStrike" cap="none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Data Preprocessing</a:t>
            </a:r>
            <a:endParaRPr sz="14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Georgia"/>
              <a:buNone/>
            </a:pPr>
            <a:endParaRPr sz="14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789525" y="3364703"/>
            <a:ext cx="4059900" cy="1051500"/>
          </a:xfrm>
          <a:prstGeom prst="roundRect">
            <a:avLst>
              <a:gd name="adj" fmla="val 6667"/>
            </a:avLst>
          </a:prstGeom>
          <a:solidFill>
            <a:srgbClr val="F5DDE1"/>
          </a:solidFill>
          <a:ln w="12700" cap="flat" cmpd="sng">
            <a:solidFill>
              <a:srgbClr val="E36A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1856225" y="3392170"/>
            <a:ext cx="3913500" cy="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3-Channel Acoustic Feature Extraction</a:t>
            </a:r>
            <a:endParaRPr sz="15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(Mel-Spectrogram + Delta + Delta-Delta)</a:t>
            </a:r>
            <a:endParaRPr sz="15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Output Tensor: (128, 251, 3)</a:t>
            </a:r>
            <a:endParaRPr sz="15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265069" y="4745803"/>
            <a:ext cx="15180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Georgia"/>
              <a:buNone/>
            </a:pPr>
            <a:endParaRPr sz="1400" b="0" i="0" u="none" strike="noStrike" cap="none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176649" y="4681739"/>
            <a:ext cx="11796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Georgia"/>
              <a:buNone/>
            </a:pPr>
            <a:endParaRPr sz="1500" b="0" i="0" u="none" strike="noStrike" cap="none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130950" y="4786925"/>
            <a:ext cx="3529500" cy="1051500"/>
          </a:xfrm>
          <a:prstGeom prst="roundRect">
            <a:avLst>
              <a:gd name="adj" fmla="val 6957"/>
            </a:avLst>
          </a:prstGeom>
          <a:solidFill>
            <a:srgbClr val="F5DDE1"/>
          </a:solidFill>
          <a:ln w="12700" cap="flat" cmpd="sng">
            <a:solidFill>
              <a:srgbClr val="E36A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2241238" y="4848543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50"/>
              <a:buFont typeface="Georgia"/>
              <a:buNone/>
            </a:pPr>
            <a:r>
              <a:rPr lang="en-US" sz="1350" b="1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Proposed 2D CNN-Transformer Model</a:t>
            </a:r>
            <a:endParaRPr sz="135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2711256" y="6565681"/>
            <a:ext cx="2048106" cy="763474"/>
          </a:xfrm>
          <a:prstGeom prst="roundRect">
            <a:avLst>
              <a:gd name="adj" fmla="val 10256"/>
            </a:avLst>
          </a:prstGeom>
          <a:solidFill>
            <a:srgbClr val="DCE7F8"/>
          </a:solidFill>
          <a:ln w="12700" cap="flat" cmpd="sng">
            <a:solidFill>
              <a:srgbClr val="7AA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2788878" y="6661423"/>
            <a:ext cx="19569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Georgia"/>
              <a:buNone/>
            </a:pPr>
            <a:r>
              <a:rPr lang="en-US" sz="1600" b="0" i="0" u="none" strike="noStrike" cap="none" dirty="0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Trained Model</a:t>
            </a:r>
            <a:endParaRPr sz="1600" b="0" i="0" u="none" strike="noStrike" cap="none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5382143" y="6489749"/>
            <a:ext cx="1993500" cy="877800"/>
          </a:xfrm>
          <a:prstGeom prst="roundRect">
            <a:avLst>
              <a:gd name="adj" fmla="val 8333"/>
            </a:avLst>
          </a:prstGeom>
          <a:solidFill>
            <a:srgbClr val="DCE7F8"/>
          </a:solidFill>
          <a:ln w="12700" cap="flat" cmpd="sng">
            <a:solidFill>
              <a:srgbClr val="7AA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5414161" y="6548999"/>
            <a:ext cx="19569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80"/>
              <a:buFont typeface="Georgia"/>
              <a:buNone/>
            </a:pPr>
            <a:r>
              <a:rPr lang="en-US" sz="1180" b="0" i="0" u="none" strike="noStrike" cap="none" dirty="0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Model Evaluation</a:t>
            </a:r>
            <a:endParaRPr sz="1180" b="0" i="0" u="none" strike="noStrike" cap="none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80"/>
              <a:buFont typeface="Georgia"/>
              <a:buNone/>
            </a:pPr>
            <a:r>
              <a:rPr lang="en-US" sz="1180" b="0" i="0" u="none" strike="noStrike" cap="none" dirty="0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(Accuracy, Precision, Recall,</a:t>
            </a:r>
            <a:endParaRPr sz="1180" b="0" i="0" u="none" strike="noStrike" cap="none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80"/>
              <a:buFont typeface="Georgia"/>
              <a:buNone/>
            </a:pPr>
            <a:r>
              <a:rPr lang="en-US" sz="1180" b="0" i="0" u="none" strike="noStrike" cap="none" dirty="0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F1-score, Confusion Matrix, ROC-AUC)</a:t>
            </a:r>
            <a:endParaRPr sz="1180" b="0" i="0" u="none" strike="noStrike" cap="none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2262332" y="7772965"/>
            <a:ext cx="3127200" cy="768000"/>
          </a:xfrm>
          <a:prstGeom prst="parallelogram">
            <a:avLst>
              <a:gd name="adj" fmla="val 9524"/>
            </a:avLst>
          </a:prstGeom>
          <a:solidFill>
            <a:srgbClr val="DCE7F8"/>
          </a:solidFill>
          <a:ln w="12700" cap="flat" cmpd="sng">
            <a:solidFill>
              <a:srgbClr val="7AA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2322584" y="7836886"/>
            <a:ext cx="2980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Georgia"/>
              <a:buNone/>
            </a:pPr>
            <a:r>
              <a:rPr lang="en-US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Results</a:t>
            </a:r>
            <a:endParaRPr sz="14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2971809" y="8938202"/>
            <a:ext cx="1426500" cy="457200"/>
          </a:xfrm>
          <a:prstGeom prst="ellipse">
            <a:avLst/>
          </a:prstGeom>
          <a:solidFill>
            <a:srgbClr val="DCE7F8"/>
          </a:solidFill>
          <a:ln w="12700" cap="flat" cmpd="sng">
            <a:solidFill>
              <a:srgbClr val="7AA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3045011" y="9034548"/>
            <a:ext cx="12801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Georgia"/>
              <a:buNone/>
            </a:pPr>
            <a:r>
              <a:rPr lang="en-US" sz="1800" b="0" i="0" u="none" strike="noStrike" cap="none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End</a:t>
            </a:r>
            <a:endParaRPr sz="1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39" name="Google Shape;39;p3"/>
          <p:cNvCxnSpPr/>
          <p:nvPr/>
        </p:nvCxnSpPr>
        <p:spPr>
          <a:xfrm>
            <a:off x="3785616" y="1335024"/>
            <a:ext cx="0" cy="91440"/>
          </a:xfrm>
          <a:prstGeom prst="straightConnector1">
            <a:avLst/>
          </a:prstGeom>
          <a:noFill/>
          <a:ln w="12700" cap="flat" cmpd="sng">
            <a:solidFill>
              <a:srgbClr val="7AA0D8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0" name="Google Shape;40;p3"/>
          <p:cNvCxnSpPr/>
          <p:nvPr/>
        </p:nvCxnSpPr>
        <p:spPr>
          <a:xfrm>
            <a:off x="3785616" y="2276856"/>
            <a:ext cx="0" cy="228600"/>
          </a:xfrm>
          <a:prstGeom prst="straightConnector1">
            <a:avLst/>
          </a:prstGeom>
          <a:noFill/>
          <a:ln w="12700" cap="flat" cmpd="sng">
            <a:solidFill>
              <a:srgbClr val="7AA0D8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1" name="Google Shape;41;p3"/>
          <p:cNvCxnSpPr>
            <a:endCxn id="23" idx="0"/>
          </p:cNvCxnSpPr>
          <p:nvPr/>
        </p:nvCxnSpPr>
        <p:spPr>
          <a:xfrm flipH="1">
            <a:off x="3819475" y="2996003"/>
            <a:ext cx="12900" cy="368700"/>
          </a:xfrm>
          <a:prstGeom prst="straightConnector1">
            <a:avLst/>
          </a:prstGeom>
          <a:noFill/>
          <a:ln w="12700" cap="flat" cmpd="sng">
            <a:solidFill>
              <a:srgbClr val="7AA0D8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" name="Google Shape;45;p3"/>
          <p:cNvCxnSpPr>
            <a:cxnSpLocks/>
            <a:endCxn id="31" idx="0"/>
          </p:cNvCxnSpPr>
          <p:nvPr/>
        </p:nvCxnSpPr>
        <p:spPr>
          <a:xfrm>
            <a:off x="3735309" y="5897850"/>
            <a:ext cx="0" cy="667831"/>
          </a:xfrm>
          <a:prstGeom prst="straightConnector1">
            <a:avLst/>
          </a:prstGeom>
          <a:noFill/>
          <a:ln w="12700" cap="flat" cmpd="sng">
            <a:solidFill>
              <a:srgbClr val="7AA0D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8" name="Google Shape;48;p3"/>
          <p:cNvSpPr/>
          <p:nvPr/>
        </p:nvSpPr>
        <p:spPr>
          <a:xfrm>
            <a:off x="566928" y="10222992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Georgia"/>
              <a:buNone/>
            </a:pPr>
            <a:endParaRPr sz="105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50" name="Google Shape;50;p3"/>
          <p:cNvCxnSpPr>
            <a:cxnSpLocks/>
          </p:cNvCxnSpPr>
          <p:nvPr/>
        </p:nvCxnSpPr>
        <p:spPr>
          <a:xfrm>
            <a:off x="3955738" y="4416203"/>
            <a:ext cx="0" cy="370722"/>
          </a:xfrm>
          <a:prstGeom prst="straightConnector1">
            <a:avLst/>
          </a:prstGeom>
          <a:noFill/>
          <a:ln w="9525" cap="flat" cmpd="sng">
            <a:solidFill>
              <a:srgbClr val="7AA0D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465AF2B-F30B-471E-AEB1-7D08FE131625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>
          <a:xfrm flipV="1">
            <a:off x="4745778" y="6928649"/>
            <a:ext cx="668383" cy="25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6915F857-D336-4BB7-803E-BC8DB35EA8EF}"/>
              </a:ext>
            </a:extLst>
          </p:cNvPr>
          <p:cNvCxnSpPr>
            <a:cxnSpLocks/>
            <a:stCxn id="33" idx="2"/>
          </p:cNvCxnSpPr>
          <p:nvPr/>
        </p:nvCxnSpPr>
        <p:spPr>
          <a:xfrm rot="5400000">
            <a:off x="5607326" y="7178916"/>
            <a:ext cx="582934" cy="9602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8CC12F9E-571E-45D2-ADD4-DECCEF0C0594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3685059" y="8540965"/>
            <a:ext cx="0" cy="397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</Words>
  <Application>Microsoft Office PowerPoint</Application>
  <PresentationFormat>Custom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Georgia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Khoshnoor Jahan Yean</cp:lastModifiedBy>
  <cp:revision>3</cp:revision>
  <dcterms:modified xsi:type="dcterms:W3CDTF">2026-04-23T08:18:12Z</dcterms:modified>
</cp:coreProperties>
</file>